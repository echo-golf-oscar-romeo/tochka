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TOCHKA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Agent-driven location intelligence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Hong Kong banking — a proposal to the HKSTP Spatial AI Sandbox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partner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China (Hong Kong)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shults &amp; partners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May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800600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4800600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4800600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" y="4800600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4800600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HAS MOVED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196596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branch and ATM networks were sized for a population that has shifted. New residential growth, ageing in place, and post-2020 mobility patterns have changed who lives within a 10-minute walk of every branch.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4612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SPATIAL DATA IS READY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196596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CSDI now publishes the 3D Pedestrian Network, full HK Population Distribution (Mar 2025), and iGeoCom — enough depth to drive real catchment analysis without licensing private datasets.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3504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ORCHESTRATE THIS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196596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Single-LLM tools are not enough — spatial analysis needs methodology selection, tool sequencing, and narrative synthesis. Qwen-class agents finally do this reliably.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PROBLEM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BOCHK's challenge in three pictures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narratives, one shared root cause: the bank lacks a spatial intelligence layer that ties branch operations to the city it serves. The next three slides illustrate what Tochka would surface during a 12-week sandbox engagement.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coverage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network misses high-density residential zones.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301752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3200400"/>
            <a:ext cx="457200" cy="457200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0690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 pressure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7472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branches run hot at peak hour despite identical staffing.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301752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3200400"/>
            <a:ext cx="457200" cy="457200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5800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Wealth affinity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6364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premium-POI density and transaction value diverge.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pictures use illustrative synthetic data — real BOCHK figures emerge during the sandbox engagement.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· BRANCH COVERAGE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network misses dense residential demand</a:t>
            </a:r>
            <a:endParaRPr lang="en-US" sz="3200" dirty="0"/>
          </a:p>
        </p:txBody>
      </p:sp>
      <p:pic>
        <p:nvPicPr>
          <p:cNvPr id="17" name="Image 0" descr="C:\Users\egorb\Documents\shults_n_partners\tochka\docs\figures\fig_01_coverage_ga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8229600" cy="31089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Catchments built on the CSDI 3D Pedestrian Network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crow-flies circles — make the gap obvious and rankable. The agent ranks every 250m cell in HK by uncovered demand and shortlists the top five candidate locations.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B · QUEUE PRESSURE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staffing, very different load</a:t>
            </a:r>
            <a:endParaRPr lang="en-US" sz="3200" dirty="0"/>
          </a:p>
        </p:txBody>
      </p:sp>
      <p:pic>
        <p:nvPicPr>
          <p:cNvPr id="17" name="Image 0" descr="C:\Users\egorb\Documents\shults_n_partners\tochka\docs\figures\fig_02_queue_press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8229600" cy="31089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staffing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from the same catchment data: spatio-temporal load profiles per branch let the agent recommend differential staffing or capacity rebalancing without site visits.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C · WEALTH PROSPECTING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POI density predicts transaction value</a:t>
            </a:r>
            <a:endParaRPr lang="en-US" sz="3200" dirty="0"/>
          </a:p>
        </p:txBody>
      </p:sp>
      <p:pic>
        <p:nvPicPr>
          <p:cNvPr id="17" name="Image 0" descr="C:\Users\egorb\Documents\shults_n_partners\tochka\docs\figures\fig_03_wealth_affin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8229600" cy="31089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wealth segmentation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POI affinity scoring — private clubs, specialty hospitals, international schools — gives Private Banking a city-wide prospecting map without touching customer PII.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a CSV. Read a storymap.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57200" y="1463040"/>
            <a:ext cx="41148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463040"/>
            <a:ext cx="2377440" cy="3108960"/>
          </a:xfrm>
          <a:prstGeom prst="rect">
            <a:avLst/>
          </a:prstGeom>
          <a:solidFill>
            <a:srgbClr val="EFEDE6"/>
          </a:solidFill>
          <a:ln w="12700">
            <a:solidFill>
              <a:srgbClr val="EFED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1828800"/>
            <a:ext cx="109728" cy="10972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2194560"/>
            <a:ext cx="109728" cy="10972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0" y="2011680"/>
            <a:ext cx="109728" cy="10972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2560320"/>
            <a:ext cx="109728" cy="10972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2926080"/>
            <a:ext cx="109728" cy="10972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3108960"/>
            <a:ext cx="109728" cy="10972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63040" y="3383280"/>
            <a:ext cx="109728" cy="10972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3291840"/>
            <a:ext cx="109728" cy="10972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657600"/>
            <a:ext cx="109728" cy="10972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0" y="3931920"/>
            <a:ext cx="109728" cy="10972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2103120"/>
            <a:ext cx="164592" cy="164592"/>
          </a:xfrm>
          <a:prstGeom prst="ellipse">
            <a:avLst/>
          </a:prstGeom>
          <a:solidFill>
            <a:srgbClr val="E07A5F">
              <a:alpha val="50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54480" y="2743200"/>
            <a:ext cx="164592" cy="164592"/>
          </a:xfrm>
          <a:prstGeom prst="ellipse">
            <a:avLst/>
          </a:prstGeom>
          <a:solidFill>
            <a:srgbClr val="E07A5F">
              <a:alpha val="50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3017520"/>
            <a:ext cx="164592" cy="164592"/>
          </a:xfrm>
          <a:prstGeom prst="ellipse">
            <a:avLst/>
          </a:prstGeom>
          <a:solidFill>
            <a:srgbClr val="E07A5F">
              <a:alpha val="50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3749040"/>
            <a:ext cx="164592" cy="164592"/>
          </a:xfrm>
          <a:prstGeom prst="ellipse">
            <a:avLst/>
          </a:prstGeom>
          <a:solidFill>
            <a:srgbClr val="E07A5F">
              <a:alpha val="50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network at a glance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97180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branches across 9 districts.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7180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10-min walk of 1.2M residents.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7180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underperformers vs Huff baseline.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97180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five candidate openings ranked.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62072" y="1719072"/>
            <a:ext cx="73152" cy="73152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1874520"/>
            <a:ext cx="292608" cy="29260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49240" y="1828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network at a glance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924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KPIs + location map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937760" y="2441448"/>
            <a:ext cx="292608" cy="29260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9240" y="23957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you reach today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49240" y="2624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isochrones + population captured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937760" y="3008376"/>
            <a:ext cx="292608" cy="29260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49240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working, what's not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49240" y="3191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Huff baseline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937760" y="3575304"/>
            <a:ext cx="292608" cy="29260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349240" y="3529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opportunity is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34924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gap-analysis hex map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937760" y="4142232"/>
            <a:ext cx="292608" cy="292608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349240" y="4096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349240" y="4325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actions, click-to-rationale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Schematic. Live UI uses MapLibre + CSDI Vector basemap, scroll-driven via the Mapbox Storytelling pattern.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agent thinks — four questions, in order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1234440" y="1691640"/>
            <a:ext cx="640080" cy="640080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2011680" y="2011680"/>
            <a:ext cx="548640" cy="0"/>
          </a:xfrm>
          <a:prstGeom prst="line">
            <a:avLst/>
          </a:prstGeom>
          <a:noFill/>
          <a:ln w="19050">
            <a:solidFill>
              <a:srgbClr val="6B676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5720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network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type, geographic extent, geocoding via CSDI ALS.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1691640"/>
            <a:ext cx="640080" cy="640080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114800" y="2011680"/>
            <a:ext cx="548640" cy="0"/>
          </a:xfrm>
          <a:prstGeom prst="line">
            <a:avLst/>
          </a:prstGeom>
          <a:noFill/>
          <a:ln w="19050">
            <a:solidFill>
              <a:srgbClr val="6B676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56032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model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6032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People-driven, visit-driven, flow-driven, or catchment-fixed.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40680" y="1691640"/>
            <a:ext cx="640080" cy="640080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217920" y="2011680"/>
            <a:ext cx="548640" cy="0"/>
          </a:xfrm>
          <a:prstGeom prst="line">
            <a:avLst/>
          </a:prstGeom>
          <a:noFill/>
          <a:ln w="19050">
            <a:solidFill>
              <a:srgbClr val="6B676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66344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question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344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Expand · Rationalise. Composable.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43800" y="1691640"/>
            <a:ext cx="640080" cy="640080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76656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plan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6656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fields → CSDI → parsed GMaps → OSM fallback.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deterministic Python functions. The LLM picks tools and reads results — it does not do the math.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INSIDE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CSDI is the spine of every analysis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Storymap 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CSDI Map APIs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CSDI datasets / FSDTs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Your network at a glance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Map (basemap)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(Address Lookup), iGeoCom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Who you reach today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Pedestrian Route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Distribution (Mar 2025), 3D Pedestrian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What's working, what's not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Nearby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footprints, iGeoCom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Where the opportunity 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Search, Identify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Distribution, Streetscape 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Next steps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Streetscape 360 (drill-in)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Visualisation Map (HK-wide)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CSDI Map APIs and FSDT datasets account for 50% of HKSTP's assessment weight. This proposal commits to using them as primary sources, not fallbacks.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12-week sandbox plan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BOCHK data intake, methodology lock-in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scope, data access agreement, baseline metrics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CSDI integration deep dive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+ 3D Pedestrian Route Search wired, isochrone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 + Expand archetypes end-to-end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Storymap on full real BOCHK network, top-5 opportunity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Rationalise archetype, ATM cluster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Replenishment-route templates, cannibalisation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Polish, internal demo, public showcase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HKSTP public demo + BOCHK case-study brief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 at end of week 5: do we have enough real-data evidence to commit to the full diagnose+expand storymap, or do we narrow scope.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engine, different inputs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57200" y="16002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chains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Convenience, F&amp;B, pharmacy. Demand = people-driven + visit-driven blend.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6002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networks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9204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Clinics, day-care centres. Demand = visit-driven + demographic targeting.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services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580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HKCYS routing, elderly outreach. Catchment-fixed under slope constraints.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15468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89204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selection, redevelopment scoring. Wealth and accessibility layers.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2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112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31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50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69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988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081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273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465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657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8492" y="278892"/>
            <a:ext cx="82296" cy="82296"/>
          </a:xfrm>
          <a:prstGeom prst="ellipse">
            <a:avLst/>
          </a:prstGeom>
          <a:solidFill>
            <a:srgbClr val="DAD6CC"/>
          </a:solidFill>
          <a:ln w="12700">
            <a:solidFill>
              <a:srgbClr val="DA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0412" y="278892"/>
            <a:ext cx="82296" cy="82296"/>
          </a:xfrm>
          <a:prstGeom prst="ellipse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10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15544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12-week HKSTP Spatial AI Sandbox slot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BOCHK as the corporate partner.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come with the engine built (FastAPI + Qwen agent + DuckDB-spatial + CSDI clients), the storymap UX shipped (MapLibre + scrollytelling), and the methodology committed (the four-question orchestrator). The sandbox is where it meets real BOCHK data, validates the recommendations against operational ground truth, and graduates to a productised offering.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2651760" cy="1005840"/>
          </a:xfrm>
          <a:prstGeom prst="rect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slot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engagement, HKSTP facilities.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657600"/>
            <a:ext cx="2651760" cy="1005840"/>
          </a:xfrm>
          <a:prstGeom prst="rect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BOCHK branch / ATM list, anonymised transaction footprint.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657600"/>
            <a:ext cx="2651760" cy="1005840"/>
          </a:xfrm>
          <a:prstGeom prst="rect">
            <a:avLst/>
          </a:prstGeom>
          <a:solidFill>
            <a:srgbClr val="0F5EA8"/>
          </a:solidFill>
          <a:ln w="12700">
            <a:solidFill>
              <a:srgbClr val="0F5E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defined at week 2; measured at week 12.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Tochka — HKSTP Spatial AI Sandbox Proposal</dc:title>
  <dc:subject>PptxGenJS Presentation</dc:subject>
  <dc:creator>shults &amp; partners</dc:creator>
  <cp:lastModifiedBy>shults &amp; partners</cp:lastModifiedBy>
  <cp:revision>1</cp:revision>
  <dcterms:created xsi:type="dcterms:W3CDTF">2026-05-24T05:12:28Z</dcterms:created>
  <dcterms:modified xsi:type="dcterms:W3CDTF">2026-05-24T05:12:28Z</dcterms:modified>
</cp:coreProperties>
</file>